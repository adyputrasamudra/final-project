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un Mai SemiCondensed Bold" charset="1" panose="00000000000000000000"/>
      <p:regular r:id="rId17"/>
    </p:embeddedFont>
    <p:embeddedFont>
      <p:font typeface="Opun Mai SemiCondense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png" Type="http://schemas.openxmlformats.org/officeDocument/2006/relationships/image"/><Relationship Id="rId12" Target="../media/image34.svg" Type="http://schemas.openxmlformats.org/officeDocument/2006/relationships/image"/><Relationship Id="rId13" Target="../media/image35.png" Type="http://schemas.openxmlformats.org/officeDocument/2006/relationships/image"/><Relationship Id="rId14" Target="../media/image36.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49.png" Type="http://schemas.openxmlformats.org/officeDocument/2006/relationships/image"/><Relationship Id="rId12" Target="../media/image50.svg" Type="http://schemas.openxmlformats.org/officeDocument/2006/relationships/image"/><Relationship Id="rId13" Target="../media/image51.png" Type="http://schemas.openxmlformats.org/officeDocument/2006/relationships/image"/><Relationship Id="rId14" Target="../media/image52.svg" Type="http://schemas.openxmlformats.org/officeDocument/2006/relationships/image"/><Relationship Id="rId15" Target="../media/image5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46.png" Type="http://schemas.openxmlformats.org/officeDocument/2006/relationships/image"/><Relationship Id="rId9" Target="../media/image4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57.png" Type="http://schemas.openxmlformats.org/officeDocument/2006/relationships/image"/><Relationship Id="rId12" Target="../media/image5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950481" y="2513934"/>
            <a:ext cx="12387037" cy="4136728"/>
          </a:xfrm>
          <a:prstGeom prst="rect">
            <a:avLst/>
          </a:prstGeom>
        </p:spPr>
        <p:txBody>
          <a:bodyPr anchor="t" rtlCol="false" tIns="0" lIns="0" bIns="0" rIns="0">
            <a:spAutoFit/>
          </a:bodyPr>
          <a:lstStyle/>
          <a:p>
            <a:pPr algn="ctr">
              <a:lnSpc>
                <a:spcPts val="16641"/>
              </a:lnSpc>
            </a:pPr>
            <a:r>
              <a:rPr lang="en-US" b="true" sz="11886">
                <a:solidFill>
                  <a:srgbClr val="AD7D5C"/>
                </a:solidFill>
                <a:latin typeface="Opun Mai SemiCondensed Bold"/>
                <a:ea typeface="Opun Mai SemiCondensed Bold"/>
                <a:cs typeface="Opun Mai SemiCondensed Bold"/>
                <a:sym typeface="Opun Mai SemiCondensed Bold"/>
              </a:rPr>
              <a:t>WEBSITE </a:t>
            </a:r>
          </a:p>
          <a:p>
            <a:pPr algn="ctr">
              <a:lnSpc>
                <a:spcPts val="16641"/>
              </a:lnSpc>
            </a:pPr>
            <a:r>
              <a:rPr lang="en-US" b="true" sz="11886">
                <a:solidFill>
                  <a:srgbClr val="AD7D5C"/>
                </a:solidFill>
                <a:latin typeface="Opun Mai SemiCondensed Bold"/>
                <a:ea typeface="Opun Mai SemiCondensed Bold"/>
                <a:cs typeface="Opun Mai SemiCondensed Bold"/>
                <a:sym typeface="Opun Mai SemiCondensed Bold"/>
              </a:rPr>
              <a:t>KEDAI KOPI</a:t>
            </a:r>
          </a:p>
        </p:txBody>
      </p:sp>
      <p:sp>
        <p:nvSpPr>
          <p:cNvPr name="Freeform 7" id="7"/>
          <p:cNvSpPr/>
          <p:nvPr/>
        </p:nvSpPr>
        <p:spPr>
          <a:xfrm flipH="false" flipV="false" rot="1184634">
            <a:off x="-75806" y="7297156"/>
            <a:ext cx="3037471" cy="4114800"/>
          </a:xfrm>
          <a:custGeom>
            <a:avLst/>
            <a:gdLst/>
            <a:ahLst/>
            <a:cxnLst/>
            <a:rect r="r" b="b" t="t" l="l"/>
            <a:pathLst>
              <a:path h="4114800" w="3037471">
                <a:moveTo>
                  <a:pt x="0" y="0"/>
                </a:moveTo>
                <a:lnTo>
                  <a:pt x="3037470" y="0"/>
                </a:lnTo>
                <a:lnTo>
                  <a:pt x="303747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287083" y="628983"/>
            <a:ext cx="1713834" cy="1713834"/>
          </a:xfrm>
          <a:custGeom>
            <a:avLst/>
            <a:gdLst/>
            <a:ahLst/>
            <a:cxnLst/>
            <a:rect r="r" b="b" t="t" l="l"/>
            <a:pathLst>
              <a:path h="1713834" w="1713834">
                <a:moveTo>
                  <a:pt x="0" y="0"/>
                </a:moveTo>
                <a:lnTo>
                  <a:pt x="1713834" y="0"/>
                </a:lnTo>
                <a:lnTo>
                  <a:pt x="1713834" y="1713834"/>
                </a:lnTo>
                <a:lnTo>
                  <a:pt x="0" y="17138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672484" y="-726027"/>
            <a:ext cx="3995097" cy="4114800"/>
          </a:xfrm>
          <a:custGeom>
            <a:avLst/>
            <a:gdLst/>
            <a:ahLst/>
            <a:cxnLst/>
            <a:rect r="r" b="b" t="t" l="l"/>
            <a:pathLst>
              <a:path h="4114800" w="3995097">
                <a:moveTo>
                  <a:pt x="0" y="0"/>
                </a:moveTo>
                <a:lnTo>
                  <a:pt x="3995097" y="0"/>
                </a:lnTo>
                <a:lnTo>
                  <a:pt x="3995097"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5833472" y="6569397"/>
            <a:ext cx="6621056" cy="604638"/>
          </a:xfrm>
          <a:prstGeom prst="rect">
            <a:avLst/>
          </a:prstGeom>
        </p:spPr>
        <p:txBody>
          <a:bodyPr anchor="t" rtlCol="false" tIns="0" lIns="0" bIns="0" rIns="0">
            <a:spAutoFit/>
          </a:bodyPr>
          <a:lstStyle/>
          <a:p>
            <a:pPr algn="ctr">
              <a:lnSpc>
                <a:spcPts val="4976"/>
              </a:lnSpc>
              <a:spcBef>
                <a:spcPct val="0"/>
              </a:spcBef>
            </a:pPr>
            <a:r>
              <a:rPr lang="en-US" b="true" sz="3554">
                <a:solidFill>
                  <a:srgbClr val="AD7D5C"/>
                </a:solidFill>
                <a:latin typeface="Opun Mai SemiCondensed Bold"/>
                <a:ea typeface="Opun Mai SemiCondensed Bold"/>
                <a:cs typeface="Opun Mai SemiCondensed Bold"/>
                <a:sym typeface="Opun Mai SemiCondensed Bold"/>
              </a:rPr>
              <a:t>ADY PUTRA SAMUDRA (230210097)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84084" y="256443"/>
            <a:ext cx="8537178" cy="1392115"/>
          </a:xfrm>
          <a:prstGeom prst="rect">
            <a:avLst/>
          </a:prstGeom>
        </p:spPr>
        <p:txBody>
          <a:bodyPr anchor="t" rtlCol="false" tIns="0" lIns="0" bIns="0" rIns="0">
            <a:spAutoFit/>
          </a:bodyPr>
          <a:lstStyle/>
          <a:p>
            <a:pPr algn="ctr">
              <a:lnSpc>
                <a:spcPts val="11469"/>
              </a:lnSpc>
            </a:pPr>
            <a:r>
              <a:rPr lang="en-US" b="true" sz="8192">
                <a:solidFill>
                  <a:srgbClr val="AD7D5C"/>
                </a:solidFill>
                <a:latin typeface="Opun Mai SemiCondensed Bold"/>
                <a:ea typeface="Opun Mai SemiCondensed Bold"/>
                <a:cs typeface="Opun Mai SemiCondensed Bold"/>
                <a:sym typeface="Opun Mai SemiCondensed Bold"/>
              </a:rPr>
              <a:t>TUJUAN</a:t>
            </a:r>
          </a:p>
        </p:txBody>
      </p:sp>
      <p:sp>
        <p:nvSpPr>
          <p:cNvPr name="TextBox 3" id="3"/>
          <p:cNvSpPr txBox="true"/>
          <p:nvPr/>
        </p:nvSpPr>
        <p:spPr>
          <a:xfrm rot="0">
            <a:off x="1939834" y="2757648"/>
            <a:ext cx="15283710" cy="4724079"/>
          </a:xfrm>
          <a:prstGeom prst="rect">
            <a:avLst/>
          </a:prstGeom>
        </p:spPr>
        <p:txBody>
          <a:bodyPr anchor="t" rtlCol="false" tIns="0" lIns="0" bIns="0" rIns="0">
            <a:spAutoFit/>
          </a:bodyPr>
          <a:lstStyle/>
          <a:p>
            <a:pPr algn="l">
              <a:lnSpc>
                <a:spcPts val="3179"/>
              </a:lnSpc>
            </a:pPr>
            <a:r>
              <a:rPr lang="en-US" sz="2270">
                <a:solidFill>
                  <a:srgbClr val="AD7D5C"/>
                </a:solidFill>
                <a:latin typeface="Opun Mai SemiCondensed"/>
                <a:ea typeface="Opun Mai SemiCondensed"/>
                <a:cs typeface="Opun Mai SemiCondensed"/>
                <a:sym typeface="Opun Mai SemiCondensed"/>
              </a:rPr>
              <a:t>Website Kopi Senja dibuat sebagai sarana digital untuk memperkuat kehadiran kedai kopi ini secara online dan mendukung kegiatan bisnis secara lebih modern dan efisien. Secara khusus, tujuan dari website ini adalah:</a:t>
            </a:r>
          </a:p>
          <a:p>
            <a:pPr algn="l">
              <a:lnSpc>
                <a:spcPts val="3179"/>
              </a:lnSpc>
            </a:pPr>
            <a:r>
              <a:rPr lang="en-US" sz="2270">
                <a:solidFill>
                  <a:srgbClr val="AD7D5C"/>
                </a:solidFill>
                <a:latin typeface="Opun Mai SemiCondensed"/>
                <a:ea typeface="Opun Mai SemiCondensed"/>
                <a:cs typeface="Opun Mai SemiCondensed"/>
                <a:sym typeface="Opun Mai SemiCondensed"/>
              </a:rPr>
              <a:t>Meningkatkan Visibilitas Kedai Kopi</a:t>
            </a:r>
          </a:p>
          <a:p>
            <a:pPr algn="l" marL="490285" indent="-245143" lvl="1">
              <a:lnSpc>
                <a:spcPts val="3179"/>
              </a:lnSpc>
              <a:buAutoNum type="arabicPeriod" startAt="1"/>
            </a:pPr>
            <a:r>
              <a:rPr lang="en-US" sz="2270">
                <a:solidFill>
                  <a:srgbClr val="AD7D5C"/>
                </a:solidFill>
                <a:latin typeface="Opun Mai SemiCondensed"/>
                <a:ea typeface="Opun Mai SemiCondensed"/>
                <a:cs typeface="Opun Mai SemiCondensed"/>
                <a:sym typeface="Opun Mai SemiCondensed"/>
              </a:rPr>
              <a:t> Dengan adanya website, Kopi Senja dapat ditemukan dengan mudah oleh calon pelanggan melalui pencarian di internet.</a:t>
            </a:r>
          </a:p>
          <a:p>
            <a:pPr algn="l" marL="490285" indent="-245143" lvl="1">
              <a:lnSpc>
                <a:spcPts val="3179"/>
              </a:lnSpc>
              <a:buAutoNum type="arabicPeriod" startAt="1"/>
            </a:pPr>
            <a:r>
              <a:rPr lang="en-US" sz="2270">
                <a:solidFill>
                  <a:srgbClr val="AD7D5C"/>
                </a:solidFill>
                <a:latin typeface="Opun Mai SemiCondensed"/>
                <a:ea typeface="Opun Mai SemiCondensed"/>
                <a:cs typeface="Opun Mai SemiCondensed"/>
                <a:sym typeface="Opun Mai SemiCondensed"/>
              </a:rPr>
              <a:t>Memberikan Informasi Lengkap kepada Pelanggan</a:t>
            </a:r>
          </a:p>
          <a:p>
            <a:pPr algn="l" marL="490285" indent="-245143" lvl="1">
              <a:lnSpc>
                <a:spcPts val="3179"/>
              </a:lnSpc>
              <a:buAutoNum type="arabicPeriod" startAt="1"/>
            </a:pPr>
            <a:r>
              <a:rPr lang="en-US" sz="2270">
                <a:solidFill>
                  <a:srgbClr val="AD7D5C"/>
                </a:solidFill>
                <a:latin typeface="Opun Mai SemiCondensed"/>
                <a:ea typeface="Opun Mai SemiCondensed"/>
                <a:cs typeface="Opun Mai SemiCondensed"/>
                <a:sym typeface="Opun Mai SemiCondensed"/>
              </a:rPr>
              <a:t> Website menyediakan informasi penting seperti:</a:t>
            </a:r>
          </a:p>
          <a:p>
            <a:pPr algn="l" marL="980570" indent="-326857" lvl="2">
              <a:lnSpc>
                <a:spcPts val="3179"/>
              </a:lnSpc>
              <a:buFont typeface="Arial"/>
              <a:buChar char="⚬"/>
            </a:pPr>
            <a:r>
              <a:rPr lang="en-US" sz="2270">
                <a:solidFill>
                  <a:srgbClr val="AD7D5C"/>
                </a:solidFill>
                <a:latin typeface="Opun Mai SemiCondensed"/>
                <a:ea typeface="Opun Mai SemiCondensed"/>
                <a:cs typeface="Opun Mai SemiCondensed"/>
                <a:sym typeface="Opun Mai SemiCondensed"/>
              </a:rPr>
              <a:t>Tentang kedai dan filosofi kopi yang disajikan</a:t>
            </a:r>
          </a:p>
          <a:p>
            <a:pPr algn="l" marL="980570" indent="-326857" lvl="2">
              <a:lnSpc>
                <a:spcPts val="3179"/>
              </a:lnSpc>
              <a:buFont typeface="Arial"/>
              <a:buChar char="⚬"/>
            </a:pPr>
            <a:r>
              <a:rPr lang="en-US" sz="2270">
                <a:solidFill>
                  <a:srgbClr val="AD7D5C"/>
                </a:solidFill>
                <a:latin typeface="Opun Mai SemiCondensed"/>
                <a:ea typeface="Opun Mai SemiCondensed"/>
                <a:cs typeface="Opun Mai SemiCondensed"/>
                <a:sym typeface="Opun Mai SemiCondensed"/>
              </a:rPr>
              <a:t>Daftar menu beserta harga</a:t>
            </a:r>
          </a:p>
          <a:p>
            <a:pPr algn="l" marL="980570" indent="-326857" lvl="2">
              <a:lnSpc>
                <a:spcPts val="3179"/>
              </a:lnSpc>
              <a:buFont typeface="Arial"/>
              <a:buChar char="⚬"/>
            </a:pPr>
            <a:r>
              <a:rPr lang="en-US" sz="2270">
                <a:solidFill>
                  <a:srgbClr val="AD7D5C"/>
                </a:solidFill>
                <a:latin typeface="Opun Mai SemiCondensed"/>
                <a:ea typeface="Opun Mai SemiCondensed"/>
                <a:cs typeface="Opun Mai SemiCondensed"/>
                <a:sym typeface="Opun Mai SemiCondensed"/>
              </a:rPr>
              <a:t>Kontak dan lokasi kedai melalui Google Maps</a:t>
            </a:r>
          </a:p>
          <a:p>
            <a:pPr algn="l" marL="980570" indent="-326857" lvl="2">
              <a:lnSpc>
                <a:spcPts val="3179"/>
              </a:lnSpc>
              <a:buFont typeface="Arial"/>
              <a:buChar char="⚬"/>
            </a:pPr>
            <a:r>
              <a:rPr lang="en-US" sz="2270">
                <a:solidFill>
                  <a:srgbClr val="AD7D5C"/>
                </a:solidFill>
                <a:latin typeface="Opun Mai SemiCondensed"/>
                <a:ea typeface="Opun Mai SemiCondensed"/>
                <a:cs typeface="Opun Mai SemiCondensed"/>
                <a:sym typeface="Opun Mai SemiCondensed"/>
              </a:rPr>
              <a:t>Formulir kontak untuk memudahkan komunikasi</a:t>
            </a:r>
          </a:p>
          <a:p>
            <a:pPr algn="l" marL="490285" indent="-245143" lvl="1">
              <a:lnSpc>
                <a:spcPts val="3179"/>
              </a:lnSpc>
              <a:buAutoNum type="arabicPeriod" startAt="1"/>
            </a:pPr>
            <a:r>
              <a:rPr lang="en-US" sz="2270">
                <a:solidFill>
                  <a:srgbClr val="AD7D5C"/>
                </a:solidFill>
                <a:latin typeface="Opun Mai SemiCondensed"/>
                <a:ea typeface="Opun Mai SemiCondensed"/>
                <a:cs typeface="Opun Mai SemiCondensed"/>
                <a:sym typeface="Opun Mai SemiCondensed"/>
              </a:rPr>
              <a:t>Memperkuat Branding dan Identitas Visual</a:t>
            </a:r>
          </a:p>
          <a:p>
            <a:pPr algn="l" marL="490285" indent="-245143" lvl="1">
              <a:lnSpc>
                <a:spcPts val="3179"/>
              </a:lnSpc>
              <a:buAutoNum type="arabicPeriod" startAt="1"/>
            </a:pPr>
            <a:r>
              <a:rPr lang="en-US" sz="2270">
                <a:solidFill>
                  <a:srgbClr val="AD7D5C"/>
                </a:solidFill>
                <a:latin typeface="Opun Mai SemiCondensed"/>
                <a:ea typeface="Opun Mai SemiCondensed"/>
                <a:cs typeface="Opun Mai SemiCondensed"/>
                <a:sym typeface="Opun Mai SemiCondensed"/>
              </a:rPr>
              <a:t> Website dirancang dengan estetika yang mencerminkan suasana hangat dan tenang, sesuai dengan nama dan konsep “Kopi Senja”.</a:t>
            </a:r>
          </a:p>
        </p:txBody>
      </p:sp>
      <p:sp>
        <p:nvSpPr>
          <p:cNvPr name="Freeform 4" id="4"/>
          <p:cNvSpPr/>
          <p:nvPr/>
        </p:nvSpPr>
        <p:spPr>
          <a:xfrm flipH="false" flipV="false" rot="0">
            <a:off x="1028700" y="77743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9812533">
            <a:off x="13249751" y="-1895018"/>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3037974">
            <a:off x="-3657600" y="6925480"/>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2906271">
            <a:off x="13565944" y="-1240932"/>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6918256" y="7699661"/>
            <a:ext cx="4068833" cy="2587339"/>
          </a:xfrm>
          <a:custGeom>
            <a:avLst/>
            <a:gdLst/>
            <a:ahLst/>
            <a:cxnLst/>
            <a:rect r="r" b="b" t="t" l="l"/>
            <a:pathLst>
              <a:path h="2587339" w="4068833">
                <a:moveTo>
                  <a:pt x="0" y="0"/>
                </a:moveTo>
                <a:lnTo>
                  <a:pt x="4068833" y="0"/>
                </a:lnTo>
                <a:lnTo>
                  <a:pt x="4068833" y="2587339"/>
                </a:lnTo>
                <a:lnTo>
                  <a:pt x="0" y="25873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49249" y="-1028700"/>
            <a:ext cx="4065717" cy="4114800"/>
          </a:xfrm>
          <a:custGeom>
            <a:avLst/>
            <a:gdLst/>
            <a:ahLst/>
            <a:cxnLst/>
            <a:rect r="r" b="b" t="t" l="l"/>
            <a:pathLst>
              <a:path h="4114800" w="4065717">
                <a:moveTo>
                  <a:pt x="0" y="0"/>
                </a:moveTo>
                <a:lnTo>
                  <a:pt x="4065717" y="0"/>
                </a:lnTo>
                <a:lnTo>
                  <a:pt x="406571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5865227" y="755792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817230" y="-367770"/>
            <a:ext cx="4070938" cy="4114800"/>
          </a:xfrm>
          <a:custGeom>
            <a:avLst/>
            <a:gdLst/>
            <a:ahLst/>
            <a:cxnLst/>
            <a:rect r="r" b="b" t="t" l="l"/>
            <a:pathLst>
              <a:path h="4114800" w="4070938">
                <a:moveTo>
                  <a:pt x="0" y="0"/>
                </a:moveTo>
                <a:lnTo>
                  <a:pt x="4070938" y="0"/>
                </a:lnTo>
                <a:lnTo>
                  <a:pt x="407093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362043" y="7774321"/>
            <a:ext cx="2217913" cy="3452005"/>
          </a:xfrm>
          <a:custGeom>
            <a:avLst/>
            <a:gdLst/>
            <a:ahLst/>
            <a:cxnLst/>
            <a:rect r="r" b="b" t="t" l="l"/>
            <a:pathLst>
              <a:path h="3452005" w="2217913">
                <a:moveTo>
                  <a:pt x="2217912" y="0"/>
                </a:moveTo>
                <a:lnTo>
                  <a:pt x="0" y="0"/>
                </a:lnTo>
                <a:lnTo>
                  <a:pt x="0" y="3452004"/>
                </a:lnTo>
                <a:lnTo>
                  <a:pt x="2217912" y="3452004"/>
                </a:lnTo>
                <a:lnTo>
                  <a:pt x="2217912" y="0"/>
                </a:lnTo>
                <a:close/>
              </a:path>
            </a:pathLst>
          </a:custGeom>
          <a:blipFill>
            <a:blip r:embed="rId8"/>
            <a:stretch>
              <a:fillRect l="0" t="0" r="0" b="0"/>
            </a:stretch>
          </a:blipFill>
        </p:spPr>
      </p:sp>
      <p:sp>
        <p:nvSpPr>
          <p:cNvPr name="TextBox 8" id="8"/>
          <p:cNvSpPr txBox="true"/>
          <p:nvPr/>
        </p:nvSpPr>
        <p:spPr>
          <a:xfrm rot="0">
            <a:off x="4875411" y="1686483"/>
            <a:ext cx="8537178" cy="1395104"/>
          </a:xfrm>
          <a:prstGeom prst="rect">
            <a:avLst/>
          </a:prstGeom>
        </p:spPr>
        <p:txBody>
          <a:bodyPr anchor="t" rtlCol="false" tIns="0" lIns="0" bIns="0" rIns="0">
            <a:spAutoFit/>
          </a:bodyPr>
          <a:lstStyle/>
          <a:p>
            <a:pPr algn="ctr">
              <a:lnSpc>
                <a:spcPts val="11469"/>
              </a:lnSpc>
            </a:pPr>
            <a:r>
              <a:rPr lang="en-US" b="true" sz="8192">
                <a:solidFill>
                  <a:srgbClr val="AD7D5C"/>
                </a:solidFill>
                <a:latin typeface="Opun Mai SemiCondensed Bold"/>
                <a:ea typeface="Opun Mai SemiCondensed Bold"/>
                <a:cs typeface="Opun Mai SemiCondensed Bold"/>
                <a:sym typeface="Opun Mai SemiCondensed Bold"/>
              </a:rPr>
              <a:t>AKSES WEBSITE</a:t>
            </a:r>
          </a:p>
        </p:txBody>
      </p:sp>
      <p:sp>
        <p:nvSpPr>
          <p:cNvPr name="TextBox 9" id="9"/>
          <p:cNvSpPr txBox="true"/>
          <p:nvPr/>
        </p:nvSpPr>
        <p:spPr>
          <a:xfrm rot="0">
            <a:off x="2885457" y="4101040"/>
            <a:ext cx="12517086" cy="3165087"/>
          </a:xfrm>
          <a:prstGeom prst="rect">
            <a:avLst/>
          </a:prstGeom>
        </p:spPr>
        <p:txBody>
          <a:bodyPr anchor="t" rtlCol="false" tIns="0" lIns="0" bIns="0" rIns="0">
            <a:spAutoFit/>
          </a:bodyPr>
          <a:lstStyle/>
          <a:p>
            <a:pPr algn="l" marL="785932" indent="-392966" lvl="1">
              <a:lnSpc>
                <a:spcPts val="5096"/>
              </a:lnSpc>
              <a:buFont typeface="Arial"/>
              <a:buChar char="•"/>
            </a:pPr>
            <a:r>
              <a:rPr lang="en-US" sz="3640">
                <a:solidFill>
                  <a:srgbClr val="AD7D5C"/>
                </a:solidFill>
                <a:latin typeface="Opun Mai SemiCondensed"/>
                <a:ea typeface="Opun Mai SemiCondensed"/>
                <a:cs typeface="Opun Mai SemiCondensed"/>
                <a:sym typeface="Opun Mai SemiCondensed"/>
              </a:rPr>
              <a:t>Website bisa diakses melalui berbagai perangkat seperti laptop, tablet, dan HP (smartphone).</a:t>
            </a:r>
          </a:p>
          <a:p>
            <a:pPr algn="l" marL="785932" indent="-392966" lvl="1">
              <a:lnSpc>
                <a:spcPts val="5096"/>
              </a:lnSpc>
              <a:buFont typeface="Arial"/>
              <a:buChar char="•"/>
            </a:pPr>
            <a:r>
              <a:rPr lang="en-US" sz="3640">
                <a:solidFill>
                  <a:srgbClr val="AD7D5C"/>
                </a:solidFill>
                <a:latin typeface="Opun Mai SemiCondensed"/>
                <a:ea typeface="Opun Mai SemiCondensed"/>
                <a:cs typeface="Opun Mai SemiCondensed"/>
                <a:sym typeface="Opun Mai SemiCondensed"/>
              </a:rPr>
              <a:t>Selama perangkat terhubung ke internet dan memiliki browser (seperti Chrome, Safari, atau Firefox), pengguna bisa membuka dan menggunakan website kapan saja dan di mana saja.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220593" y="1065131"/>
            <a:ext cx="9846815" cy="1395104"/>
          </a:xfrm>
          <a:prstGeom prst="rect">
            <a:avLst/>
          </a:prstGeom>
        </p:spPr>
        <p:txBody>
          <a:bodyPr anchor="t" rtlCol="false" tIns="0" lIns="0" bIns="0" rIns="0">
            <a:spAutoFit/>
          </a:bodyPr>
          <a:lstStyle/>
          <a:p>
            <a:pPr algn="ctr">
              <a:lnSpc>
                <a:spcPts val="11469"/>
              </a:lnSpc>
            </a:pPr>
            <a:r>
              <a:rPr lang="en-US" b="true" sz="8192">
                <a:solidFill>
                  <a:srgbClr val="AD7D5C"/>
                </a:solidFill>
                <a:latin typeface="Opun Mai SemiCondensed Bold"/>
                <a:ea typeface="Opun Mai SemiCondensed Bold"/>
                <a:cs typeface="Opun Mai SemiCondensed Bold"/>
                <a:sym typeface="Opun Mai SemiCondensed Bold"/>
              </a:rPr>
              <a:t>STRUKTUR NAVIGASI</a:t>
            </a:r>
          </a:p>
        </p:txBody>
      </p:sp>
      <p:sp>
        <p:nvSpPr>
          <p:cNvPr name="TextBox 3" id="3"/>
          <p:cNvSpPr txBox="true"/>
          <p:nvPr/>
        </p:nvSpPr>
        <p:spPr>
          <a:xfrm rot="0">
            <a:off x="3668530" y="3124854"/>
            <a:ext cx="10950940" cy="5126984"/>
          </a:xfrm>
          <a:prstGeom prst="rect">
            <a:avLst/>
          </a:prstGeom>
        </p:spPr>
        <p:txBody>
          <a:bodyPr anchor="t" rtlCol="false" tIns="0" lIns="0" bIns="0" rIns="0">
            <a:spAutoFit/>
          </a:bodyPr>
          <a:lstStyle/>
          <a:p>
            <a:pPr algn="l" marL="626164" indent="-313082" lvl="1">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Navigasi utama terletak di bagian atas (navbar), terdiri dari:</a:t>
            </a:r>
          </a:p>
          <a:p>
            <a:pPr algn="l" marL="626164" indent="-313082" lvl="1">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Home – Halaman utama dengan ajakan dan gambaran umum.</a:t>
            </a:r>
          </a:p>
          <a:p>
            <a:pPr algn="l" marL="626164" indent="-313082" lvl="1">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Tentang Kami – Informasi latar belakang dan keunggulan kedai.</a:t>
            </a:r>
          </a:p>
          <a:p>
            <a:pPr algn="l" marL="626164" indent="-313082" lvl="1">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Menu – Daftar minuman beserta harga.</a:t>
            </a:r>
          </a:p>
          <a:p>
            <a:pPr algn="l" marL="626164" indent="-313082" lvl="1">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Kontak – Formulir pesan dan peta lokasi.</a:t>
            </a:r>
          </a:p>
          <a:p>
            <a:pPr algn="l" marL="1252328" indent="-417443" lvl="2">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Ikon Tambahan:</a:t>
            </a:r>
          </a:p>
          <a:p>
            <a:pPr algn="l" marL="1252328" indent="-417443" lvl="2">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 Search (Pencarian)</a:t>
            </a:r>
          </a:p>
          <a:p>
            <a:pPr algn="l" marL="1252328" indent="-417443" lvl="2">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 Shopping Cart (Keranjang)</a:t>
            </a:r>
          </a:p>
          <a:p>
            <a:pPr algn="l" marL="1252328" indent="-417443" lvl="2">
              <a:lnSpc>
                <a:spcPts val="4060"/>
              </a:lnSpc>
              <a:buFont typeface="Arial"/>
              <a:buChar char="⚬"/>
            </a:pPr>
            <a:r>
              <a:rPr lang="en-US" sz="2900">
                <a:solidFill>
                  <a:srgbClr val="AD7D5C"/>
                </a:solidFill>
                <a:latin typeface="Opun Mai SemiCondensed"/>
                <a:ea typeface="Opun Mai SemiCondensed"/>
                <a:cs typeface="Opun Mai SemiCondensed"/>
                <a:sym typeface="Opun Mai SemiCondensed"/>
              </a:rPr>
              <a:t>☰ Hamburger Menu (Menu mobile/responsif)</a:t>
            </a:r>
          </a:p>
          <a:p>
            <a:pPr algn="l">
              <a:lnSpc>
                <a:spcPts val="4060"/>
              </a:lnSpc>
            </a:pPr>
          </a:p>
        </p:txBody>
      </p:sp>
      <p:sp>
        <p:nvSpPr>
          <p:cNvPr name="Freeform 4" id="4"/>
          <p:cNvSpPr/>
          <p:nvPr/>
        </p:nvSpPr>
        <p:spPr>
          <a:xfrm flipH="false" flipV="false" rot="0">
            <a:off x="1028700" y="77743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805164" y="59420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9812533">
            <a:off x="13249751" y="-1895018"/>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3736760" y="8251838"/>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3037974">
            <a:off x="-3657600" y="6925480"/>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2906271">
            <a:off x="13565944" y="-1240932"/>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1398236" y="5716921"/>
            <a:ext cx="4406928" cy="1193995"/>
          </a:xfrm>
          <a:custGeom>
            <a:avLst/>
            <a:gdLst/>
            <a:ahLst/>
            <a:cxnLst/>
            <a:rect r="r" b="b" t="t" l="l"/>
            <a:pathLst>
              <a:path h="1193995" w="4406928">
                <a:moveTo>
                  <a:pt x="0" y="0"/>
                </a:moveTo>
                <a:lnTo>
                  <a:pt x="4406928" y="0"/>
                </a:lnTo>
                <a:lnTo>
                  <a:pt x="4406928" y="1193995"/>
                </a:lnTo>
                <a:lnTo>
                  <a:pt x="0" y="1193995"/>
                </a:lnTo>
                <a:lnTo>
                  <a:pt x="0"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49394" y="2817790"/>
            <a:ext cx="12088125" cy="3414499"/>
          </a:xfrm>
          <a:prstGeom prst="rect">
            <a:avLst/>
          </a:prstGeom>
        </p:spPr>
        <p:txBody>
          <a:bodyPr anchor="t" rtlCol="false" tIns="0" lIns="0" bIns="0" rIns="0">
            <a:spAutoFit/>
          </a:bodyPr>
          <a:lstStyle/>
          <a:p>
            <a:pPr algn="l">
              <a:lnSpc>
                <a:spcPts val="3424"/>
              </a:lnSpc>
            </a:pPr>
            <a:r>
              <a:rPr lang="en-US" sz="2445">
                <a:solidFill>
                  <a:srgbClr val="AD7D5C"/>
                </a:solidFill>
                <a:latin typeface="Opun Mai SemiCondensed"/>
                <a:ea typeface="Opun Mai SemiCondensed"/>
                <a:cs typeface="Opun Mai SemiCondensed"/>
                <a:sym typeface="Opun Mai SemiCondensed"/>
              </a:rPr>
              <a:t>1. Pengunjung masuk ke website</a:t>
            </a:r>
          </a:p>
          <a:p>
            <a:pPr algn="l" marL="528071" indent="-264036" lvl="1">
              <a:lnSpc>
                <a:spcPts val="3424"/>
              </a:lnSpc>
              <a:buFont typeface="Arial"/>
              <a:buChar char="•"/>
            </a:pPr>
            <a:r>
              <a:rPr lang="en-US" sz="2445">
                <a:solidFill>
                  <a:srgbClr val="AD7D5C"/>
                </a:solidFill>
                <a:latin typeface="Opun Mai SemiCondensed"/>
                <a:ea typeface="Opun Mai SemiCondensed"/>
                <a:cs typeface="Opun Mai SemiCondensed"/>
                <a:sym typeface="Opun Mai SemiCondensed"/>
              </a:rPr>
              <a:t>Disambut dengan halaman utama (hero section) yang berisi ajakan dan deskripsi singkat.</a:t>
            </a:r>
          </a:p>
          <a:p>
            <a:pPr algn="l">
              <a:lnSpc>
                <a:spcPts val="3424"/>
              </a:lnSpc>
            </a:pPr>
            <a:r>
              <a:rPr lang="en-US" sz="2445">
                <a:solidFill>
                  <a:srgbClr val="AD7D5C"/>
                </a:solidFill>
                <a:latin typeface="Opun Mai SemiCondensed"/>
                <a:ea typeface="Opun Mai SemiCondensed"/>
                <a:cs typeface="Opun Mai SemiCondensed"/>
                <a:sym typeface="Opun Mai SemiCondensed"/>
              </a:rPr>
              <a:t>2. Menjelajahi navigasi utama</a:t>
            </a:r>
          </a:p>
          <a:p>
            <a:pPr algn="l" marL="528071" indent="-264036" lvl="1">
              <a:lnSpc>
                <a:spcPts val="3424"/>
              </a:lnSpc>
              <a:buFont typeface="Arial"/>
              <a:buChar char="•"/>
            </a:pPr>
            <a:r>
              <a:rPr lang="en-US" sz="2445">
                <a:solidFill>
                  <a:srgbClr val="AD7D5C"/>
                </a:solidFill>
                <a:latin typeface="Opun Mai SemiCondensed"/>
                <a:ea typeface="Opun Mai SemiCondensed"/>
                <a:cs typeface="Opun Mai SemiCondensed"/>
                <a:sym typeface="Opun Mai SemiCondensed"/>
              </a:rPr>
              <a:t>Klik menu: Home, Tentang Kami, Menu, Kontak.</a:t>
            </a:r>
          </a:p>
          <a:p>
            <a:pPr algn="l">
              <a:lnSpc>
                <a:spcPts val="3424"/>
              </a:lnSpc>
            </a:pPr>
            <a:r>
              <a:rPr lang="en-US" sz="2445">
                <a:solidFill>
                  <a:srgbClr val="AD7D5C"/>
                </a:solidFill>
                <a:latin typeface="Opun Mai SemiCondensed"/>
                <a:ea typeface="Opun Mai SemiCondensed"/>
                <a:cs typeface="Opun Mai SemiCondensed"/>
                <a:sym typeface="Opun Mai SemiCondensed"/>
              </a:rPr>
              <a:t>3. Melihat informasi</a:t>
            </a:r>
          </a:p>
          <a:p>
            <a:pPr algn="l" marL="528071" indent="-264036" lvl="1">
              <a:lnSpc>
                <a:spcPts val="3424"/>
              </a:lnSpc>
              <a:buFont typeface="Arial"/>
              <a:buChar char="•"/>
            </a:pPr>
            <a:r>
              <a:rPr lang="en-US" sz="2445">
                <a:solidFill>
                  <a:srgbClr val="AD7D5C"/>
                </a:solidFill>
                <a:latin typeface="Opun Mai SemiCondensed"/>
                <a:ea typeface="Opun Mai SemiCondensed"/>
                <a:cs typeface="Opun Mai SemiCondensed"/>
                <a:sym typeface="Opun Mai SemiCondensed"/>
              </a:rPr>
              <a:t>Tentang Kami → penjelasan filosofi dan kualitas kopi.</a:t>
            </a:r>
          </a:p>
          <a:p>
            <a:pPr algn="l" marL="528071" indent="-264036" lvl="1">
              <a:lnSpc>
                <a:spcPts val="3424"/>
              </a:lnSpc>
              <a:buFont typeface="Arial"/>
              <a:buChar char="•"/>
            </a:pPr>
            <a:r>
              <a:rPr lang="en-US" sz="2445">
                <a:solidFill>
                  <a:srgbClr val="AD7D5C"/>
                </a:solidFill>
                <a:latin typeface="Opun Mai SemiCondensed"/>
                <a:ea typeface="Opun Mai SemiCondensed"/>
                <a:cs typeface="Opun Mai SemiCondensed"/>
                <a:sym typeface="Opun Mai SemiCondensed"/>
              </a:rPr>
              <a:t>Menu → daftar kopi dengan gambar &amp; harga</a:t>
            </a:r>
          </a:p>
          <a:p>
            <a:pPr algn="l">
              <a:lnSpc>
                <a:spcPts val="3424"/>
              </a:lnSpc>
            </a:pPr>
          </a:p>
        </p:txBody>
      </p:sp>
      <p:sp>
        <p:nvSpPr>
          <p:cNvPr name="TextBox 3" id="3"/>
          <p:cNvSpPr txBox="true"/>
          <p:nvPr/>
        </p:nvSpPr>
        <p:spPr>
          <a:xfrm rot="0">
            <a:off x="3249394" y="5789009"/>
            <a:ext cx="12088125" cy="3267329"/>
          </a:xfrm>
          <a:prstGeom prst="rect">
            <a:avLst/>
          </a:prstGeom>
        </p:spPr>
        <p:txBody>
          <a:bodyPr anchor="t" rtlCol="false" tIns="0" lIns="0" bIns="0" rIns="0">
            <a:spAutoFit/>
          </a:bodyPr>
          <a:lstStyle/>
          <a:p>
            <a:pPr algn="l">
              <a:lnSpc>
                <a:spcPts val="3282"/>
              </a:lnSpc>
            </a:pPr>
            <a:r>
              <a:rPr lang="en-US" sz="2344">
                <a:solidFill>
                  <a:srgbClr val="AD7D5C"/>
                </a:solidFill>
                <a:latin typeface="Opun Mai SemiCondensed"/>
                <a:ea typeface="Opun Mai SemiCondensed"/>
                <a:cs typeface="Opun Mai SemiCondensed"/>
                <a:sym typeface="Opun Mai SemiCondensed"/>
              </a:rPr>
              <a:t>4. Interaksi dengan fitur</a:t>
            </a:r>
          </a:p>
          <a:p>
            <a:pPr algn="l" marL="506281" indent="-253140" lvl="1">
              <a:lnSpc>
                <a:spcPts val="3282"/>
              </a:lnSpc>
              <a:buFont typeface="Arial"/>
              <a:buChar char="•"/>
            </a:pPr>
            <a:r>
              <a:rPr lang="en-US" sz="2344">
                <a:solidFill>
                  <a:srgbClr val="AD7D5C"/>
                </a:solidFill>
                <a:latin typeface="Opun Mai SemiCondensed"/>
                <a:ea typeface="Opun Mai SemiCondensed"/>
                <a:cs typeface="Opun Mai SemiCondensed"/>
                <a:sym typeface="Opun Mai SemiCondensed"/>
              </a:rPr>
              <a:t>Form kontak → untuk kirim pesan.</a:t>
            </a:r>
          </a:p>
          <a:p>
            <a:pPr algn="l" marL="506281" indent="-253140" lvl="1">
              <a:lnSpc>
                <a:spcPts val="3282"/>
              </a:lnSpc>
              <a:buFont typeface="Arial"/>
              <a:buChar char="•"/>
            </a:pPr>
            <a:r>
              <a:rPr lang="en-US" sz="2344">
                <a:solidFill>
                  <a:srgbClr val="AD7D5C"/>
                </a:solidFill>
                <a:latin typeface="Opun Mai SemiCondensed"/>
                <a:ea typeface="Opun Mai SemiCondensed"/>
                <a:cs typeface="Opun Mai SemiCondensed"/>
                <a:sym typeface="Opun Mai SemiCondensed"/>
              </a:rPr>
              <a:t>Ikon keranjang (🛒) → rencana untuk pemesanan online.</a:t>
            </a:r>
          </a:p>
          <a:p>
            <a:pPr algn="l" marL="506281" indent="-253140" lvl="1">
              <a:lnSpc>
                <a:spcPts val="3282"/>
              </a:lnSpc>
              <a:buFont typeface="Arial"/>
              <a:buChar char="•"/>
            </a:pPr>
            <a:r>
              <a:rPr lang="en-US" sz="2344">
                <a:solidFill>
                  <a:srgbClr val="AD7D5C"/>
                </a:solidFill>
                <a:latin typeface="Opun Mai SemiCondensed"/>
                <a:ea typeface="Opun Mai SemiCondensed"/>
                <a:cs typeface="Opun Mai SemiCondensed"/>
                <a:sym typeface="Opun Mai SemiCondensed"/>
              </a:rPr>
              <a:t>Ikon media sosial → terhubung ke Instagram, Twitter, Facebook.</a:t>
            </a:r>
          </a:p>
          <a:p>
            <a:pPr algn="l">
              <a:lnSpc>
                <a:spcPts val="3282"/>
              </a:lnSpc>
            </a:pPr>
            <a:r>
              <a:rPr lang="en-US" sz="2344">
                <a:solidFill>
                  <a:srgbClr val="AD7D5C"/>
                </a:solidFill>
                <a:latin typeface="Opun Mai SemiCondensed"/>
                <a:ea typeface="Opun Mai SemiCondensed"/>
                <a:cs typeface="Opun Mai SemiCondensed"/>
                <a:sym typeface="Opun Mai SemiCondensed"/>
              </a:rPr>
              <a:t>5. Menemukan lokasi</a:t>
            </a:r>
          </a:p>
          <a:p>
            <a:pPr algn="l" marL="506281" indent="-253140" lvl="1">
              <a:lnSpc>
                <a:spcPts val="3282"/>
              </a:lnSpc>
              <a:buFont typeface="Arial"/>
              <a:buChar char="•"/>
            </a:pPr>
            <a:r>
              <a:rPr lang="en-US" sz="2344">
                <a:solidFill>
                  <a:srgbClr val="AD7D5C"/>
                </a:solidFill>
                <a:latin typeface="Opun Mai SemiCondensed"/>
                <a:ea typeface="Opun Mai SemiCondensed"/>
                <a:cs typeface="Opun Mai SemiCondensed"/>
                <a:sym typeface="Opun Mai SemiCondensed"/>
              </a:rPr>
              <a:t>Melihat peta lokasi di halaman Kontak.</a:t>
            </a:r>
          </a:p>
          <a:p>
            <a:pPr algn="l" marL="506281" indent="-253140" lvl="1">
              <a:lnSpc>
                <a:spcPts val="3282"/>
              </a:lnSpc>
              <a:buFont typeface="Arial"/>
              <a:buChar char="•"/>
            </a:pPr>
            <a:r>
              <a:rPr lang="en-US" sz="2344">
                <a:solidFill>
                  <a:srgbClr val="AD7D5C"/>
                </a:solidFill>
                <a:latin typeface="Opun Mai SemiCondensed"/>
                <a:ea typeface="Opun Mai SemiCondensed"/>
                <a:cs typeface="Opun Mai SemiCondensed"/>
                <a:sym typeface="Opun Mai SemiCondensed"/>
              </a:rPr>
              <a:t>Langsung diarahkan ke Google Maps.</a:t>
            </a:r>
          </a:p>
          <a:p>
            <a:pPr algn="l">
              <a:lnSpc>
                <a:spcPts val="3282"/>
              </a:lnSpc>
            </a:pPr>
          </a:p>
        </p:txBody>
      </p:sp>
      <p:sp>
        <p:nvSpPr>
          <p:cNvPr name="Freeform 4" id="4"/>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3149192" y="7774321"/>
            <a:ext cx="7253654" cy="4114800"/>
          </a:xfrm>
          <a:custGeom>
            <a:avLst/>
            <a:gdLst/>
            <a:ahLst/>
            <a:cxnLst/>
            <a:rect r="r" b="b" t="t" l="l"/>
            <a:pathLst>
              <a:path h="4114800" w="7253654">
                <a:moveTo>
                  <a:pt x="0" y="0"/>
                </a:moveTo>
                <a:lnTo>
                  <a:pt x="7253654" y="0"/>
                </a:lnTo>
                <a:lnTo>
                  <a:pt x="725365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5141419" y="-855216"/>
            <a:ext cx="4567734" cy="4998888"/>
          </a:xfrm>
          <a:custGeom>
            <a:avLst/>
            <a:gdLst/>
            <a:ahLst/>
            <a:cxnLst/>
            <a:rect r="r" b="b" t="t" l="l"/>
            <a:pathLst>
              <a:path h="4998888" w="4567734">
                <a:moveTo>
                  <a:pt x="0" y="0"/>
                </a:moveTo>
                <a:lnTo>
                  <a:pt x="4567734" y="0"/>
                </a:lnTo>
                <a:lnTo>
                  <a:pt x="4567734" y="4998888"/>
                </a:lnTo>
                <a:lnTo>
                  <a:pt x="0" y="4998888"/>
                </a:lnTo>
                <a:lnTo>
                  <a:pt x="0" y="0"/>
                </a:lnTo>
                <a:close/>
              </a:path>
            </a:pathLst>
          </a:custGeom>
          <a:blipFill>
            <a:blip r:embed="rId8"/>
            <a:stretch>
              <a:fillRect l="0" t="0" r="0" b="0"/>
            </a:stretch>
          </a:blipFill>
        </p:spPr>
      </p:sp>
      <p:sp>
        <p:nvSpPr>
          <p:cNvPr name="TextBox 10" id="10"/>
          <p:cNvSpPr txBox="true"/>
          <p:nvPr/>
        </p:nvSpPr>
        <p:spPr>
          <a:xfrm rot="0">
            <a:off x="4684084" y="514558"/>
            <a:ext cx="8483158" cy="1945677"/>
          </a:xfrm>
          <a:prstGeom prst="rect">
            <a:avLst/>
          </a:prstGeom>
        </p:spPr>
        <p:txBody>
          <a:bodyPr anchor="t" rtlCol="false" tIns="0" lIns="0" bIns="0" rIns="0">
            <a:spAutoFit/>
          </a:bodyPr>
          <a:lstStyle/>
          <a:p>
            <a:pPr algn="ctr" marL="0" indent="0" lvl="0">
              <a:lnSpc>
                <a:spcPts val="7879"/>
              </a:lnSpc>
              <a:spcBef>
                <a:spcPct val="0"/>
              </a:spcBef>
            </a:pPr>
            <a:r>
              <a:rPr lang="en-US" b="true" sz="5628" strike="noStrike" u="none">
                <a:solidFill>
                  <a:srgbClr val="AD7D5C"/>
                </a:solidFill>
                <a:latin typeface="Opun Mai SemiCondensed Bold"/>
                <a:ea typeface="Opun Mai SemiCondensed Bold"/>
                <a:cs typeface="Opun Mai SemiCondensed Bold"/>
                <a:sym typeface="Opun Mai SemiCondensed Bold"/>
              </a:rPr>
              <a:t>ALUR PENGGUNAAN WEBSITE KOPI SENJA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3072339"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99329" y="464414"/>
            <a:ext cx="2973686" cy="1274968"/>
          </a:xfrm>
          <a:custGeom>
            <a:avLst/>
            <a:gdLst/>
            <a:ahLst/>
            <a:cxnLst/>
            <a:rect r="r" b="b" t="t" l="l"/>
            <a:pathLst>
              <a:path h="1274968" w="2973686">
                <a:moveTo>
                  <a:pt x="0" y="0"/>
                </a:moveTo>
                <a:lnTo>
                  <a:pt x="2973686" y="0"/>
                </a:lnTo>
                <a:lnTo>
                  <a:pt x="2973686" y="1274968"/>
                </a:lnTo>
                <a:lnTo>
                  <a:pt x="0" y="1274968"/>
                </a:lnTo>
                <a:lnTo>
                  <a:pt x="0" y="0"/>
                </a:lnTo>
                <a:close/>
              </a:path>
            </a:pathLst>
          </a:custGeom>
          <a:blipFill>
            <a:blip r:embed="rId4"/>
            <a:stretch>
              <a:fillRect l="0" t="0" r="0" b="0"/>
            </a:stretch>
          </a:blipFill>
          <a:ln cap="sq">
            <a:noFill/>
            <a:prstDash val="solid"/>
            <a:miter/>
          </a:ln>
        </p:spPr>
      </p:sp>
      <p:sp>
        <p:nvSpPr>
          <p:cNvPr name="Freeform 4" id="4"/>
          <p:cNvSpPr/>
          <p:nvPr/>
        </p:nvSpPr>
        <p:spPr>
          <a:xfrm flipH="true" flipV="false" rot="-10800000">
            <a:off x="6534668" y="6106103"/>
            <a:ext cx="1064661" cy="720141"/>
          </a:xfrm>
          <a:custGeom>
            <a:avLst/>
            <a:gdLst/>
            <a:ahLst/>
            <a:cxnLst/>
            <a:rect r="r" b="b" t="t" l="l"/>
            <a:pathLst>
              <a:path h="720141" w="1064661">
                <a:moveTo>
                  <a:pt x="1064661" y="0"/>
                </a:moveTo>
                <a:lnTo>
                  <a:pt x="0" y="0"/>
                </a:lnTo>
                <a:lnTo>
                  <a:pt x="0" y="720142"/>
                </a:lnTo>
                <a:lnTo>
                  <a:pt x="1064661" y="720142"/>
                </a:lnTo>
                <a:lnTo>
                  <a:pt x="106466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10574829" y="6106103"/>
            <a:ext cx="1064661" cy="720141"/>
          </a:xfrm>
          <a:custGeom>
            <a:avLst/>
            <a:gdLst/>
            <a:ahLst/>
            <a:cxnLst/>
            <a:rect r="r" b="b" t="t" l="l"/>
            <a:pathLst>
              <a:path h="720141" w="1064661">
                <a:moveTo>
                  <a:pt x="0" y="0"/>
                </a:moveTo>
                <a:lnTo>
                  <a:pt x="1064661" y="0"/>
                </a:lnTo>
                <a:lnTo>
                  <a:pt x="1064661" y="720142"/>
                </a:lnTo>
                <a:lnTo>
                  <a:pt x="0" y="7201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2262582" y="8477550"/>
            <a:ext cx="2973686" cy="1274968"/>
          </a:xfrm>
          <a:custGeom>
            <a:avLst/>
            <a:gdLst/>
            <a:ahLst/>
            <a:cxnLst/>
            <a:rect r="r" b="b" t="t" l="l"/>
            <a:pathLst>
              <a:path h="1274968" w="2973686">
                <a:moveTo>
                  <a:pt x="0" y="0"/>
                </a:moveTo>
                <a:lnTo>
                  <a:pt x="2973686" y="0"/>
                </a:lnTo>
                <a:lnTo>
                  <a:pt x="2973686" y="1274968"/>
                </a:lnTo>
                <a:lnTo>
                  <a:pt x="0" y="1274968"/>
                </a:lnTo>
                <a:lnTo>
                  <a:pt x="0" y="0"/>
                </a:lnTo>
                <a:close/>
              </a:path>
            </a:pathLst>
          </a:custGeom>
          <a:blipFill>
            <a:blip r:embed="rId4"/>
            <a:stretch>
              <a:fillRect l="0" t="0" r="0" b="0"/>
            </a:stretch>
          </a:blipFill>
          <a:ln cap="sq">
            <a:noFill/>
            <a:prstDash val="solid"/>
            <a:miter/>
          </a:ln>
        </p:spPr>
      </p:sp>
      <p:sp>
        <p:nvSpPr>
          <p:cNvPr name="Freeform 7" id="7"/>
          <p:cNvSpPr/>
          <p:nvPr/>
        </p:nvSpPr>
        <p:spPr>
          <a:xfrm flipH="true" flipV="false" rot="-3839564">
            <a:off x="14522055" y="6943281"/>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4765520">
            <a:off x="-1058345" y="6855883"/>
            <a:ext cx="5226651" cy="4114800"/>
          </a:xfrm>
          <a:custGeom>
            <a:avLst/>
            <a:gdLst/>
            <a:ahLst/>
            <a:cxnLst/>
            <a:rect r="r" b="b" t="t" l="l"/>
            <a:pathLst>
              <a:path h="4114800" w="5226651">
                <a:moveTo>
                  <a:pt x="0" y="0"/>
                </a:moveTo>
                <a:lnTo>
                  <a:pt x="5226651" y="0"/>
                </a:lnTo>
                <a:lnTo>
                  <a:pt x="522665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3234503" y="-707133"/>
            <a:ext cx="6711417" cy="4114800"/>
          </a:xfrm>
          <a:custGeom>
            <a:avLst/>
            <a:gdLst/>
            <a:ahLst/>
            <a:cxnLst/>
            <a:rect r="r" b="b" t="t" l="l"/>
            <a:pathLst>
              <a:path h="4114800" w="6711417">
                <a:moveTo>
                  <a:pt x="0" y="0"/>
                </a:moveTo>
                <a:lnTo>
                  <a:pt x="6711416" y="0"/>
                </a:lnTo>
                <a:lnTo>
                  <a:pt x="6711416"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5335265">
            <a:off x="8631336" y="1974999"/>
            <a:ext cx="909673" cy="258443"/>
          </a:xfrm>
          <a:custGeom>
            <a:avLst/>
            <a:gdLst/>
            <a:ahLst/>
            <a:cxnLst/>
            <a:rect r="r" b="b" t="t" l="l"/>
            <a:pathLst>
              <a:path h="258443" w="909673">
                <a:moveTo>
                  <a:pt x="0" y="0"/>
                </a:moveTo>
                <a:lnTo>
                  <a:pt x="909672" y="0"/>
                </a:lnTo>
                <a:lnTo>
                  <a:pt x="909672" y="258442"/>
                </a:lnTo>
                <a:lnTo>
                  <a:pt x="0" y="2584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11352909" y="9075852"/>
            <a:ext cx="909673" cy="258443"/>
          </a:xfrm>
          <a:custGeom>
            <a:avLst/>
            <a:gdLst/>
            <a:ahLst/>
            <a:cxnLst/>
            <a:rect r="r" b="b" t="t" l="l"/>
            <a:pathLst>
              <a:path h="258443" w="909673">
                <a:moveTo>
                  <a:pt x="0" y="0"/>
                </a:moveTo>
                <a:lnTo>
                  <a:pt x="909673" y="0"/>
                </a:lnTo>
                <a:lnTo>
                  <a:pt x="909673" y="258443"/>
                </a:lnTo>
                <a:lnTo>
                  <a:pt x="0" y="2584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5335265">
            <a:off x="8689164" y="8096429"/>
            <a:ext cx="909673" cy="258443"/>
          </a:xfrm>
          <a:custGeom>
            <a:avLst/>
            <a:gdLst/>
            <a:ahLst/>
            <a:cxnLst/>
            <a:rect r="r" b="b" t="t" l="l"/>
            <a:pathLst>
              <a:path h="258443" w="909673">
                <a:moveTo>
                  <a:pt x="0" y="0"/>
                </a:moveTo>
                <a:lnTo>
                  <a:pt x="909672" y="0"/>
                </a:lnTo>
                <a:lnTo>
                  <a:pt x="909672" y="258443"/>
                </a:lnTo>
                <a:lnTo>
                  <a:pt x="0" y="2584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5335265">
            <a:off x="8729343" y="6275691"/>
            <a:ext cx="909673" cy="258443"/>
          </a:xfrm>
          <a:custGeom>
            <a:avLst/>
            <a:gdLst/>
            <a:ahLst/>
            <a:cxnLst/>
            <a:rect r="r" b="b" t="t" l="l"/>
            <a:pathLst>
              <a:path h="258443" w="909673">
                <a:moveTo>
                  <a:pt x="0" y="0"/>
                </a:moveTo>
                <a:lnTo>
                  <a:pt x="909673" y="0"/>
                </a:lnTo>
                <a:lnTo>
                  <a:pt x="909673" y="258443"/>
                </a:lnTo>
                <a:lnTo>
                  <a:pt x="0" y="25844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5335265">
            <a:off x="8639304" y="4169111"/>
            <a:ext cx="909673" cy="258443"/>
          </a:xfrm>
          <a:custGeom>
            <a:avLst/>
            <a:gdLst/>
            <a:ahLst/>
            <a:cxnLst/>
            <a:rect r="r" b="b" t="t" l="l"/>
            <a:pathLst>
              <a:path h="258443" w="909673">
                <a:moveTo>
                  <a:pt x="0" y="0"/>
                </a:moveTo>
                <a:lnTo>
                  <a:pt x="909672" y="0"/>
                </a:lnTo>
                <a:lnTo>
                  <a:pt x="909672" y="258442"/>
                </a:lnTo>
                <a:lnTo>
                  <a:pt x="0" y="2584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8374879" y="2696374"/>
            <a:ext cx="1422587" cy="1422587"/>
          </a:xfrm>
          <a:custGeom>
            <a:avLst/>
            <a:gdLst/>
            <a:ahLst/>
            <a:cxnLst/>
            <a:rect r="r" b="b" t="t" l="l"/>
            <a:pathLst>
              <a:path h="1422587" w="1422587">
                <a:moveTo>
                  <a:pt x="0" y="0"/>
                </a:moveTo>
                <a:lnTo>
                  <a:pt x="1422587" y="0"/>
                </a:lnTo>
                <a:lnTo>
                  <a:pt x="1422587" y="1422587"/>
                </a:lnTo>
                <a:lnTo>
                  <a:pt x="0" y="142258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8475781" y="6766706"/>
            <a:ext cx="1336438" cy="1336438"/>
          </a:xfrm>
          <a:custGeom>
            <a:avLst/>
            <a:gdLst/>
            <a:ahLst/>
            <a:cxnLst/>
            <a:rect r="r" b="b" t="t" l="l"/>
            <a:pathLst>
              <a:path h="1336438" w="1336438">
                <a:moveTo>
                  <a:pt x="0" y="0"/>
                </a:moveTo>
                <a:lnTo>
                  <a:pt x="1336438" y="0"/>
                </a:lnTo>
                <a:lnTo>
                  <a:pt x="1336438" y="1336438"/>
                </a:lnTo>
                <a:lnTo>
                  <a:pt x="0" y="13364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7" id="17"/>
          <p:cNvSpPr txBox="true"/>
          <p:nvPr/>
        </p:nvSpPr>
        <p:spPr>
          <a:xfrm rot="0">
            <a:off x="8575357" y="7156074"/>
            <a:ext cx="1137285" cy="612387"/>
          </a:xfrm>
          <a:prstGeom prst="rect">
            <a:avLst/>
          </a:prstGeom>
        </p:spPr>
        <p:txBody>
          <a:bodyPr anchor="t" rtlCol="false" tIns="0" lIns="0" bIns="0" rIns="0">
            <a:spAutoFit/>
          </a:bodyPr>
          <a:lstStyle/>
          <a:p>
            <a:pPr algn="ctr">
              <a:lnSpc>
                <a:spcPts val="5096"/>
              </a:lnSpc>
              <a:spcBef>
                <a:spcPct val="0"/>
              </a:spcBef>
            </a:pPr>
            <a:r>
              <a:rPr lang="en-US" b="true" sz="3640">
                <a:solidFill>
                  <a:srgbClr val="000000"/>
                </a:solidFill>
                <a:latin typeface="Opun Mai SemiCondensed Bold"/>
                <a:ea typeface="Opun Mai SemiCondensed Bold"/>
                <a:cs typeface="Opun Mai SemiCondensed Bold"/>
                <a:sym typeface="Opun Mai SemiCondensed Bold"/>
              </a:rPr>
              <a:t>MENU</a:t>
            </a:r>
          </a:p>
        </p:txBody>
      </p:sp>
      <p:sp>
        <p:nvSpPr>
          <p:cNvPr name="TextBox 18" id="18"/>
          <p:cNvSpPr txBox="true"/>
          <p:nvPr/>
        </p:nvSpPr>
        <p:spPr>
          <a:xfrm rot="0">
            <a:off x="1632497" y="737880"/>
            <a:ext cx="5201008" cy="612387"/>
          </a:xfrm>
          <a:prstGeom prst="rect">
            <a:avLst/>
          </a:prstGeom>
        </p:spPr>
        <p:txBody>
          <a:bodyPr anchor="t" rtlCol="false" tIns="0" lIns="0" bIns="0" rIns="0">
            <a:spAutoFit/>
          </a:bodyPr>
          <a:lstStyle/>
          <a:p>
            <a:pPr algn="ctr">
              <a:lnSpc>
                <a:spcPts val="5096"/>
              </a:lnSpc>
              <a:spcBef>
                <a:spcPct val="0"/>
              </a:spcBef>
            </a:pPr>
            <a:r>
              <a:rPr lang="en-US" b="true" sz="3640">
                <a:solidFill>
                  <a:srgbClr val="AD7D5C"/>
                </a:solidFill>
                <a:latin typeface="Opun Mai SemiCondensed Bold"/>
                <a:ea typeface="Opun Mai SemiCondensed Bold"/>
                <a:cs typeface="Opun Mai SemiCondensed Bold"/>
                <a:sym typeface="Opun Mai SemiCondensed Bold"/>
              </a:rPr>
              <a:t>FLOWCHART ALUR SISTEM</a:t>
            </a:r>
          </a:p>
        </p:txBody>
      </p:sp>
      <p:sp>
        <p:nvSpPr>
          <p:cNvPr name="TextBox 19" id="19"/>
          <p:cNvSpPr txBox="true"/>
          <p:nvPr/>
        </p:nvSpPr>
        <p:spPr>
          <a:xfrm rot="0">
            <a:off x="6252291" y="728355"/>
            <a:ext cx="5667761" cy="670886"/>
          </a:xfrm>
          <a:prstGeom prst="rect">
            <a:avLst/>
          </a:prstGeom>
        </p:spPr>
        <p:txBody>
          <a:bodyPr anchor="t" rtlCol="false" tIns="0" lIns="0" bIns="0" rIns="0">
            <a:spAutoFit/>
          </a:bodyPr>
          <a:lstStyle/>
          <a:p>
            <a:pPr algn="ctr">
              <a:lnSpc>
                <a:spcPts val="5553"/>
              </a:lnSpc>
              <a:spcBef>
                <a:spcPct val="0"/>
              </a:spcBef>
            </a:pPr>
            <a:r>
              <a:rPr lang="en-US" b="true" sz="3966">
                <a:solidFill>
                  <a:srgbClr val="000000"/>
                </a:solidFill>
                <a:latin typeface="Opun Mai SemiCondensed Bold"/>
                <a:ea typeface="Opun Mai SemiCondensed Bold"/>
                <a:cs typeface="Opun Mai SemiCondensed Bold"/>
                <a:sym typeface="Opun Mai SemiCondensed Bold"/>
              </a:rPr>
              <a:t>START</a:t>
            </a:r>
          </a:p>
        </p:txBody>
      </p:sp>
      <p:sp>
        <p:nvSpPr>
          <p:cNvPr name="TextBox 20" id="20"/>
          <p:cNvSpPr txBox="true"/>
          <p:nvPr/>
        </p:nvSpPr>
        <p:spPr>
          <a:xfrm rot="0">
            <a:off x="8374879" y="3137614"/>
            <a:ext cx="1398698" cy="455879"/>
          </a:xfrm>
          <a:prstGeom prst="rect">
            <a:avLst/>
          </a:prstGeom>
        </p:spPr>
        <p:txBody>
          <a:bodyPr anchor="t" rtlCol="false" tIns="0" lIns="0" bIns="0" rIns="0">
            <a:spAutoFit/>
          </a:bodyPr>
          <a:lstStyle/>
          <a:p>
            <a:pPr algn="ctr">
              <a:lnSpc>
                <a:spcPts val="3812"/>
              </a:lnSpc>
              <a:spcBef>
                <a:spcPct val="0"/>
              </a:spcBef>
            </a:pPr>
            <a:r>
              <a:rPr lang="en-US" b="true" sz="2723">
                <a:solidFill>
                  <a:srgbClr val="000000"/>
                </a:solidFill>
                <a:latin typeface="Opun Mai SemiCondensed Bold"/>
                <a:ea typeface="Opun Mai SemiCondensed Bold"/>
                <a:cs typeface="Opun Mai SemiCondensed Bold"/>
                <a:sym typeface="Opun Mai SemiCondensed Bold"/>
              </a:rPr>
              <a:t>BERANDA</a:t>
            </a:r>
          </a:p>
        </p:txBody>
      </p:sp>
      <p:sp>
        <p:nvSpPr>
          <p:cNvPr name="Freeform 21" id="21"/>
          <p:cNvSpPr/>
          <p:nvPr/>
        </p:nvSpPr>
        <p:spPr>
          <a:xfrm flipH="false" flipV="false" rot="0">
            <a:off x="8397383" y="4764277"/>
            <a:ext cx="1573592" cy="1573592"/>
          </a:xfrm>
          <a:custGeom>
            <a:avLst/>
            <a:gdLst/>
            <a:ahLst/>
            <a:cxnLst/>
            <a:rect r="r" b="b" t="t" l="l"/>
            <a:pathLst>
              <a:path h="1573592" w="1573592">
                <a:moveTo>
                  <a:pt x="0" y="0"/>
                </a:moveTo>
                <a:lnTo>
                  <a:pt x="1573592" y="0"/>
                </a:lnTo>
                <a:lnTo>
                  <a:pt x="1573592" y="1573592"/>
                </a:lnTo>
                <a:lnTo>
                  <a:pt x="0" y="157359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2" id="22"/>
          <p:cNvSpPr txBox="true"/>
          <p:nvPr/>
        </p:nvSpPr>
        <p:spPr>
          <a:xfrm rot="0">
            <a:off x="8512729" y="5101726"/>
            <a:ext cx="1342901" cy="843080"/>
          </a:xfrm>
          <a:prstGeom prst="rect">
            <a:avLst/>
          </a:prstGeom>
        </p:spPr>
        <p:txBody>
          <a:bodyPr anchor="t" rtlCol="false" tIns="0" lIns="0" bIns="0" rIns="0">
            <a:spAutoFit/>
          </a:bodyPr>
          <a:lstStyle/>
          <a:p>
            <a:pPr algn="ctr">
              <a:lnSpc>
                <a:spcPts val="3465"/>
              </a:lnSpc>
            </a:pPr>
            <a:r>
              <a:rPr lang="en-US" b="true" sz="2475">
                <a:solidFill>
                  <a:srgbClr val="000000"/>
                </a:solidFill>
                <a:latin typeface="Opun Mai SemiCondensed Bold"/>
                <a:ea typeface="Opun Mai SemiCondensed Bold"/>
                <a:cs typeface="Opun Mai SemiCondensed Bold"/>
                <a:sym typeface="Opun Mai SemiCondensed Bold"/>
              </a:rPr>
              <a:t>MENU </a:t>
            </a:r>
          </a:p>
          <a:p>
            <a:pPr algn="ctr">
              <a:lnSpc>
                <a:spcPts val="3465"/>
              </a:lnSpc>
              <a:spcBef>
                <a:spcPct val="0"/>
              </a:spcBef>
            </a:pPr>
            <a:r>
              <a:rPr lang="en-US" b="true" sz="2475">
                <a:solidFill>
                  <a:srgbClr val="000000"/>
                </a:solidFill>
                <a:latin typeface="Opun Mai SemiCondensed Bold"/>
                <a:ea typeface="Opun Mai SemiCondensed Bold"/>
                <a:cs typeface="Opun Mai SemiCondensed Bold"/>
                <a:sym typeface="Opun Mai SemiCondensed Bold"/>
              </a:rPr>
              <a:t>NAVIGASI</a:t>
            </a:r>
          </a:p>
        </p:txBody>
      </p:sp>
      <p:sp>
        <p:nvSpPr>
          <p:cNvPr name="TextBox 23" id="23"/>
          <p:cNvSpPr txBox="true"/>
          <p:nvPr/>
        </p:nvSpPr>
        <p:spPr>
          <a:xfrm rot="0">
            <a:off x="12930193" y="8741491"/>
            <a:ext cx="1638464" cy="670886"/>
          </a:xfrm>
          <a:prstGeom prst="rect">
            <a:avLst/>
          </a:prstGeom>
        </p:spPr>
        <p:txBody>
          <a:bodyPr anchor="t" rtlCol="false" tIns="0" lIns="0" bIns="0" rIns="0">
            <a:spAutoFit/>
          </a:bodyPr>
          <a:lstStyle/>
          <a:p>
            <a:pPr algn="ctr">
              <a:lnSpc>
                <a:spcPts val="5553"/>
              </a:lnSpc>
              <a:spcBef>
                <a:spcPct val="0"/>
              </a:spcBef>
            </a:pPr>
            <a:r>
              <a:rPr lang="en-US" b="true" sz="3966">
                <a:solidFill>
                  <a:srgbClr val="000000"/>
                </a:solidFill>
                <a:latin typeface="Opun Mai SemiCondensed Bold"/>
                <a:ea typeface="Opun Mai SemiCondensed Bold"/>
                <a:cs typeface="Opun Mai SemiCondensed Bold"/>
                <a:sym typeface="Opun Mai SemiCondensed Bold"/>
              </a:rPr>
              <a:t>END</a:t>
            </a:r>
          </a:p>
        </p:txBody>
      </p:sp>
      <p:sp>
        <p:nvSpPr>
          <p:cNvPr name="Freeform 24" id="24"/>
          <p:cNvSpPr/>
          <p:nvPr/>
        </p:nvSpPr>
        <p:spPr>
          <a:xfrm flipH="false" flipV="false" rot="0">
            <a:off x="10905798" y="6903959"/>
            <a:ext cx="1336438" cy="1336438"/>
          </a:xfrm>
          <a:custGeom>
            <a:avLst/>
            <a:gdLst/>
            <a:ahLst/>
            <a:cxnLst/>
            <a:rect r="r" b="b" t="t" l="l"/>
            <a:pathLst>
              <a:path h="1336438" w="1336438">
                <a:moveTo>
                  <a:pt x="0" y="0"/>
                </a:moveTo>
                <a:lnTo>
                  <a:pt x="1336438" y="0"/>
                </a:lnTo>
                <a:lnTo>
                  <a:pt x="1336438" y="1336438"/>
                </a:lnTo>
                <a:lnTo>
                  <a:pt x="0" y="13364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5" id="25"/>
          <p:cNvSpPr txBox="true"/>
          <p:nvPr/>
        </p:nvSpPr>
        <p:spPr>
          <a:xfrm rot="0">
            <a:off x="10964744" y="7290445"/>
            <a:ext cx="1251433" cy="478017"/>
          </a:xfrm>
          <a:prstGeom prst="rect">
            <a:avLst/>
          </a:prstGeom>
        </p:spPr>
        <p:txBody>
          <a:bodyPr anchor="t" rtlCol="false" tIns="0" lIns="0" bIns="0" rIns="0">
            <a:spAutoFit/>
          </a:bodyPr>
          <a:lstStyle/>
          <a:p>
            <a:pPr algn="ctr">
              <a:lnSpc>
                <a:spcPts val="4019"/>
              </a:lnSpc>
              <a:spcBef>
                <a:spcPct val="0"/>
              </a:spcBef>
            </a:pPr>
            <a:r>
              <a:rPr lang="en-US" b="true" sz="2870">
                <a:solidFill>
                  <a:srgbClr val="000000"/>
                </a:solidFill>
                <a:latin typeface="Opun Mai SemiCondensed Bold"/>
                <a:ea typeface="Opun Mai SemiCondensed Bold"/>
                <a:cs typeface="Opun Mai SemiCondensed Bold"/>
                <a:sym typeface="Opun Mai SemiCondensed Bold"/>
              </a:rPr>
              <a:t>KONTAK</a:t>
            </a:r>
          </a:p>
        </p:txBody>
      </p:sp>
      <p:sp>
        <p:nvSpPr>
          <p:cNvPr name="Freeform 26" id="26"/>
          <p:cNvSpPr/>
          <p:nvPr/>
        </p:nvSpPr>
        <p:spPr>
          <a:xfrm flipH="false" flipV="false" rot="0">
            <a:off x="5747872" y="6903959"/>
            <a:ext cx="1573592" cy="1573592"/>
          </a:xfrm>
          <a:custGeom>
            <a:avLst/>
            <a:gdLst/>
            <a:ahLst/>
            <a:cxnLst/>
            <a:rect r="r" b="b" t="t" l="l"/>
            <a:pathLst>
              <a:path h="1573592" w="1573592">
                <a:moveTo>
                  <a:pt x="0" y="0"/>
                </a:moveTo>
                <a:lnTo>
                  <a:pt x="1573592" y="0"/>
                </a:lnTo>
                <a:lnTo>
                  <a:pt x="1573592" y="1573591"/>
                </a:lnTo>
                <a:lnTo>
                  <a:pt x="0" y="15735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7" id="27"/>
          <p:cNvSpPr txBox="true"/>
          <p:nvPr/>
        </p:nvSpPr>
        <p:spPr>
          <a:xfrm rot="0">
            <a:off x="4850027" y="7175124"/>
            <a:ext cx="3369282" cy="877490"/>
          </a:xfrm>
          <a:prstGeom prst="rect">
            <a:avLst/>
          </a:prstGeom>
        </p:spPr>
        <p:txBody>
          <a:bodyPr anchor="t" rtlCol="false" tIns="0" lIns="0" bIns="0" rIns="0">
            <a:spAutoFit/>
          </a:bodyPr>
          <a:lstStyle/>
          <a:p>
            <a:pPr algn="ctr">
              <a:lnSpc>
                <a:spcPts val="3572"/>
              </a:lnSpc>
            </a:pPr>
            <a:r>
              <a:rPr lang="en-US" b="true" sz="2551">
                <a:solidFill>
                  <a:srgbClr val="000000"/>
                </a:solidFill>
                <a:latin typeface="Opun Mai SemiCondensed Bold"/>
                <a:ea typeface="Opun Mai SemiCondensed Bold"/>
                <a:cs typeface="Opun Mai SemiCondensed Bold"/>
                <a:sym typeface="Opun Mai SemiCondensed Bold"/>
              </a:rPr>
              <a:t>TENTANG </a:t>
            </a:r>
          </a:p>
          <a:p>
            <a:pPr algn="ctr">
              <a:lnSpc>
                <a:spcPts val="3572"/>
              </a:lnSpc>
              <a:spcBef>
                <a:spcPct val="0"/>
              </a:spcBef>
            </a:pPr>
            <a:r>
              <a:rPr lang="en-US" b="true" sz="2551">
                <a:solidFill>
                  <a:srgbClr val="000000"/>
                </a:solidFill>
                <a:latin typeface="Opun Mai SemiCondensed Bold"/>
                <a:ea typeface="Opun Mai SemiCondensed Bold"/>
                <a:cs typeface="Opun Mai SemiCondensed Bold"/>
                <a:sym typeface="Opun Mai SemiCondensed Bold"/>
              </a:rPr>
              <a:t>KAMI</a:t>
            </a:r>
          </a:p>
        </p:txBody>
      </p:sp>
      <p:sp>
        <p:nvSpPr>
          <p:cNvPr name="Freeform 28" id="28"/>
          <p:cNvSpPr/>
          <p:nvPr/>
        </p:nvSpPr>
        <p:spPr>
          <a:xfrm flipH="false" flipV="false" rot="0">
            <a:off x="8397383" y="8625582"/>
            <a:ext cx="1573592" cy="1573592"/>
          </a:xfrm>
          <a:custGeom>
            <a:avLst/>
            <a:gdLst/>
            <a:ahLst/>
            <a:cxnLst/>
            <a:rect r="r" b="b" t="t" l="l"/>
            <a:pathLst>
              <a:path h="1573592" w="1573592">
                <a:moveTo>
                  <a:pt x="0" y="0"/>
                </a:moveTo>
                <a:lnTo>
                  <a:pt x="1573592" y="0"/>
                </a:lnTo>
                <a:lnTo>
                  <a:pt x="1573592" y="1573591"/>
                </a:lnTo>
                <a:lnTo>
                  <a:pt x="0" y="15735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9" id="29"/>
          <p:cNvSpPr txBox="true"/>
          <p:nvPr/>
        </p:nvSpPr>
        <p:spPr>
          <a:xfrm rot="0">
            <a:off x="8394831" y="8778089"/>
            <a:ext cx="1578697" cy="1370931"/>
          </a:xfrm>
          <a:prstGeom prst="rect">
            <a:avLst/>
          </a:prstGeom>
        </p:spPr>
        <p:txBody>
          <a:bodyPr anchor="t" rtlCol="false" tIns="0" lIns="0" bIns="0" rIns="0">
            <a:spAutoFit/>
          </a:bodyPr>
          <a:lstStyle/>
          <a:p>
            <a:pPr algn="ctr">
              <a:lnSpc>
                <a:spcPts val="2760"/>
              </a:lnSpc>
              <a:spcBef>
                <a:spcPct val="0"/>
              </a:spcBef>
            </a:pPr>
            <a:r>
              <a:rPr lang="en-US" b="true" sz="1972">
                <a:solidFill>
                  <a:srgbClr val="000000"/>
                </a:solidFill>
                <a:latin typeface="Opun Mai SemiCondensed Bold"/>
                <a:ea typeface="Opun Mai SemiCondensed Bold"/>
                <a:cs typeface="Opun Mai SemiCondensed Bold"/>
                <a:sym typeface="Opun Mai SemiCondensed Bold"/>
              </a:rPr>
              <a:t>FOOTER</a:t>
            </a:r>
          </a:p>
          <a:p>
            <a:pPr algn="ctr">
              <a:lnSpc>
                <a:spcPts val="2760"/>
              </a:lnSpc>
              <a:spcBef>
                <a:spcPct val="0"/>
              </a:spcBef>
            </a:pPr>
            <a:r>
              <a:rPr lang="en-US" b="true" sz="1972">
                <a:solidFill>
                  <a:srgbClr val="000000"/>
                </a:solidFill>
                <a:latin typeface="Opun Mai SemiCondensed Bold"/>
                <a:ea typeface="Opun Mai SemiCondensed Bold"/>
                <a:cs typeface="Opun Mai SemiCondensed Bold"/>
                <a:sym typeface="Opun Mai SemiCondensed Bold"/>
              </a:rPr>
              <a:t>(SOSIAL MEDIA, ALAMAT,DLL.)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493371" y="2047401"/>
            <a:ext cx="11301259" cy="5269212"/>
          </a:xfrm>
          <a:custGeom>
            <a:avLst/>
            <a:gdLst/>
            <a:ahLst/>
            <a:cxnLst/>
            <a:rect r="r" b="b" t="t" l="l"/>
            <a:pathLst>
              <a:path h="5269212" w="11301259">
                <a:moveTo>
                  <a:pt x="0" y="0"/>
                </a:moveTo>
                <a:lnTo>
                  <a:pt x="11301258" y="0"/>
                </a:lnTo>
                <a:lnTo>
                  <a:pt x="11301258" y="5269212"/>
                </a:lnTo>
                <a:lnTo>
                  <a:pt x="0" y="5269212"/>
                </a:lnTo>
                <a:lnTo>
                  <a:pt x="0" y="0"/>
                </a:lnTo>
                <a:close/>
              </a:path>
            </a:pathLst>
          </a:custGeom>
          <a:blipFill>
            <a:blip r:embed="rId6"/>
            <a:stretch>
              <a:fillRect l="0" t="0" r="0" b="0"/>
            </a:stretch>
          </a:blipFill>
        </p:spPr>
      </p:sp>
      <p:sp>
        <p:nvSpPr>
          <p:cNvPr name="Freeform 7" id="7"/>
          <p:cNvSpPr/>
          <p:nvPr/>
        </p:nvSpPr>
        <p:spPr>
          <a:xfrm flipH="false" flipV="false" rot="0">
            <a:off x="15137409" y="-1028700"/>
            <a:ext cx="5061721" cy="4114800"/>
          </a:xfrm>
          <a:custGeom>
            <a:avLst/>
            <a:gdLst/>
            <a:ahLst/>
            <a:cxnLst/>
            <a:rect r="r" b="b" t="t" l="l"/>
            <a:pathLst>
              <a:path h="4114800" w="5061721">
                <a:moveTo>
                  <a:pt x="0" y="0"/>
                </a:moveTo>
                <a:lnTo>
                  <a:pt x="5061720" y="0"/>
                </a:lnTo>
                <a:lnTo>
                  <a:pt x="506172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5980" y="6176865"/>
            <a:ext cx="2842953" cy="4114800"/>
          </a:xfrm>
          <a:custGeom>
            <a:avLst/>
            <a:gdLst/>
            <a:ahLst/>
            <a:cxnLst/>
            <a:rect r="r" b="b" t="t" l="l"/>
            <a:pathLst>
              <a:path h="4114800" w="2842953">
                <a:moveTo>
                  <a:pt x="0" y="0"/>
                </a:moveTo>
                <a:lnTo>
                  <a:pt x="2842952" y="0"/>
                </a:lnTo>
                <a:lnTo>
                  <a:pt x="284295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7174111" y="689169"/>
            <a:ext cx="3939778" cy="612387"/>
          </a:xfrm>
          <a:prstGeom prst="rect">
            <a:avLst/>
          </a:prstGeom>
        </p:spPr>
        <p:txBody>
          <a:bodyPr anchor="t" rtlCol="false" tIns="0" lIns="0" bIns="0" rIns="0">
            <a:spAutoFit/>
          </a:bodyPr>
          <a:lstStyle/>
          <a:p>
            <a:pPr algn="ctr">
              <a:lnSpc>
                <a:spcPts val="5096"/>
              </a:lnSpc>
              <a:spcBef>
                <a:spcPct val="0"/>
              </a:spcBef>
            </a:pPr>
            <a:r>
              <a:rPr lang="en-US" b="true" sz="3640">
                <a:solidFill>
                  <a:srgbClr val="AD7D5C"/>
                </a:solidFill>
                <a:latin typeface="Opun Mai SemiCondensed Bold"/>
                <a:ea typeface="Opun Mai SemiCondensed Bold"/>
                <a:cs typeface="Opun Mai SemiCondensed Bold"/>
                <a:sym typeface="Opun Mai SemiCondensed Bold"/>
              </a:rPr>
              <a:t>TAMPILAN WEBSITE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493371" y="1899072"/>
            <a:ext cx="11301259" cy="5565870"/>
          </a:xfrm>
          <a:custGeom>
            <a:avLst/>
            <a:gdLst/>
            <a:ahLst/>
            <a:cxnLst/>
            <a:rect r="r" b="b" t="t" l="l"/>
            <a:pathLst>
              <a:path h="5565870" w="11301259">
                <a:moveTo>
                  <a:pt x="0" y="0"/>
                </a:moveTo>
                <a:lnTo>
                  <a:pt x="11301258" y="0"/>
                </a:lnTo>
                <a:lnTo>
                  <a:pt x="11301258" y="5565870"/>
                </a:lnTo>
                <a:lnTo>
                  <a:pt x="0" y="5565870"/>
                </a:lnTo>
                <a:lnTo>
                  <a:pt x="0" y="0"/>
                </a:lnTo>
                <a:close/>
              </a:path>
            </a:pathLst>
          </a:custGeom>
          <a:blipFill>
            <a:blip r:embed="rId6"/>
            <a:stretch>
              <a:fillRect l="0" t="0" r="0" b="0"/>
            </a:stretch>
          </a:blipFill>
        </p:spPr>
      </p:sp>
      <p:sp>
        <p:nvSpPr>
          <p:cNvPr name="Freeform 7" id="7"/>
          <p:cNvSpPr/>
          <p:nvPr/>
        </p:nvSpPr>
        <p:spPr>
          <a:xfrm flipH="false" flipV="false" rot="0">
            <a:off x="15817291" y="-1559368"/>
            <a:ext cx="3215990" cy="4900556"/>
          </a:xfrm>
          <a:custGeom>
            <a:avLst/>
            <a:gdLst/>
            <a:ahLst/>
            <a:cxnLst/>
            <a:rect r="r" b="b" t="t" l="l"/>
            <a:pathLst>
              <a:path h="4900556" w="3215990">
                <a:moveTo>
                  <a:pt x="0" y="0"/>
                </a:moveTo>
                <a:lnTo>
                  <a:pt x="3215990" y="0"/>
                </a:lnTo>
                <a:lnTo>
                  <a:pt x="3215990" y="4900555"/>
                </a:lnTo>
                <a:lnTo>
                  <a:pt x="0" y="4900555"/>
                </a:lnTo>
                <a:lnTo>
                  <a:pt x="0" y="0"/>
                </a:lnTo>
                <a:close/>
              </a:path>
            </a:pathLst>
          </a:custGeom>
          <a:blipFill>
            <a:blip r:embed="rId7"/>
            <a:stretch>
              <a:fillRect l="0" t="0" r="0" b="0"/>
            </a:stretch>
          </a:blipFill>
        </p:spPr>
      </p:sp>
      <p:sp>
        <p:nvSpPr>
          <p:cNvPr name="Freeform 8" id="8"/>
          <p:cNvSpPr/>
          <p:nvPr/>
        </p:nvSpPr>
        <p:spPr>
          <a:xfrm flipH="true" flipV="false" rot="0">
            <a:off x="-319632" y="6751591"/>
            <a:ext cx="3834176" cy="3764464"/>
          </a:xfrm>
          <a:custGeom>
            <a:avLst/>
            <a:gdLst/>
            <a:ahLst/>
            <a:cxnLst/>
            <a:rect r="r" b="b" t="t" l="l"/>
            <a:pathLst>
              <a:path h="3764464" w="3834176">
                <a:moveTo>
                  <a:pt x="3834176" y="0"/>
                </a:moveTo>
                <a:lnTo>
                  <a:pt x="0" y="0"/>
                </a:lnTo>
                <a:lnTo>
                  <a:pt x="0" y="3764464"/>
                </a:lnTo>
                <a:lnTo>
                  <a:pt x="3834176" y="3764464"/>
                </a:lnTo>
                <a:lnTo>
                  <a:pt x="383417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7743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812533">
            <a:off x="13249751" y="-1895018"/>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43005">
            <a:off x="-105886" y="-2057400"/>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3037974">
            <a:off x="-3657600" y="6925480"/>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906271">
            <a:off x="13565944" y="-1240932"/>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854500" y="3011694"/>
            <a:ext cx="7165748" cy="3466430"/>
          </a:xfrm>
          <a:custGeom>
            <a:avLst/>
            <a:gdLst/>
            <a:ahLst/>
            <a:cxnLst/>
            <a:rect r="r" b="b" t="t" l="l"/>
            <a:pathLst>
              <a:path h="3466430" w="7165748">
                <a:moveTo>
                  <a:pt x="0" y="0"/>
                </a:moveTo>
                <a:lnTo>
                  <a:pt x="7165748" y="0"/>
                </a:lnTo>
                <a:lnTo>
                  <a:pt x="7165748" y="3466431"/>
                </a:lnTo>
                <a:lnTo>
                  <a:pt x="0" y="3466431"/>
                </a:lnTo>
                <a:lnTo>
                  <a:pt x="0" y="0"/>
                </a:lnTo>
                <a:close/>
              </a:path>
            </a:pathLst>
          </a:custGeom>
          <a:blipFill>
            <a:blip r:embed="rId8"/>
            <a:stretch>
              <a:fillRect l="0" t="0" r="0" b="0"/>
            </a:stretch>
          </a:blipFill>
        </p:spPr>
      </p:sp>
      <p:sp>
        <p:nvSpPr>
          <p:cNvPr name="Freeform 11" id="11"/>
          <p:cNvSpPr/>
          <p:nvPr/>
        </p:nvSpPr>
        <p:spPr>
          <a:xfrm flipH="false" flipV="false" rot="0">
            <a:off x="8259550" y="1006313"/>
            <a:ext cx="1768899" cy="1720657"/>
          </a:xfrm>
          <a:custGeom>
            <a:avLst/>
            <a:gdLst/>
            <a:ahLst/>
            <a:cxnLst/>
            <a:rect r="r" b="b" t="t" l="l"/>
            <a:pathLst>
              <a:path h="1720657" w="1768899">
                <a:moveTo>
                  <a:pt x="0" y="0"/>
                </a:moveTo>
                <a:lnTo>
                  <a:pt x="1768900" y="0"/>
                </a:lnTo>
                <a:lnTo>
                  <a:pt x="1768900" y="1720657"/>
                </a:lnTo>
                <a:lnTo>
                  <a:pt x="0" y="17206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7306323" y="8028328"/>
            <a:ext cx="3675354" cy="2258672"/>
          </a:xfrm>
          <a:custGeom>
            <a:avLst/>
            <a:gdLst/>
            <a:ahLst/>
            <a:cxnLst/>
            <a:rect r="r" b="b" t="t" l="l"/>
            <a:pathLst>
              <a:path h="2258672" w="3675354">
                <a:moveTo>
                  <a:pt x="0" y="0"/>
                </a:moveTo>
                <a:lnTo>
                  <a:pt x="3675354" y="0"/>
                </a:lnTo>
                <a:lnTo>
                  <a:pt x="3675354" y="2258672"/>
                </a:lnTo>
                <a:lnTo>
                  <a:pt x="0" y="22586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090614" y="1877835"/>
            <a:ext cx="1782535" cy="1698270"/>
          </a:xfrm>
          <a:custGeom>
            <a:avLst/>
            <a:gdLst/>
            <a:ahLst/>
            <a:cxnLst/>
            <a:rect r="r" b="b" t="t" l="l"/>
            <a:pathLst>
              <a:path h="1698270" w="1782535">
                <a:moveTo>
                  <a:pt x="0" y="0"/>
                </a:moveTo>
                <a:lnTo>
                  <a:pt x="1782535" y="0"/>
                </a:lnTo>
                <a:lnTo>
                  <a:pt x="1782535" y="1698270"/>
                </a:lnTo>
                <a:lnTo>
                  <a:pt x="0" y="169827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9486673" y="3011694"/>
            <a:ext cx="6950236" cy="3466430"/>
          </a:xfrm>
          <a:custGeom>
            <a:avLst/>
            <a:gdLst/>
            <a:ahLst/>
            <a:cxnLst/>
            <a:rect r="r" b="b" t="t" l="l"/>
            <a:pathLst>
              <a:path h="3466430" w="6950236">
                <a:moveTo>
                  <a:pt x="0" y="0"/>
                </a:moveTo>
                <a:lnTo>
                  <a:pt x="6950237" y="0"/>
                </a:lnTo>
                <a:lnTo>
                  <a:pt x="6950237" y="3466431"/>
                </a:lnTo>
                <a:lnTo>
                  <a:pt x="0" y="3466431"/>
                </a:lnTo>
                <a:lnTo>
                  <a:pt x="0" y="0"/>
                </a:lnTo>
                <a:close/>
              </a:path>
            </a:pathLst>
          </a:custGeom>
          <a:blipFill>
            <a:blip r:embed="rId1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7743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812533">
            <a:off x="13249751" y="-1895018"/>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3037974">
            <a:off x="-3657600" y="6925480"/>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906271">
            <a:off x="13565944" y="-1240932"/>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3493371" y="2139888"/>
            <a:ext cx="11301259" cy="5466984"/>
          </a:xfrm>
          <a:custGeom>
            <a:avLst/>
            <a:gdLst/>
            <a:ahLst/>
            <a:cxnLst/>
            <a:rect r="r" b="b" t="t" l="l"/>
            <a:pathLst>
              <a:path h="5466984" w="11301259">
                <a:moveTo>
                  <a:pt x="0" y="0"/>
                </a:moveTo>
                <a:lnTo>
                  <a:pt x="11301258" y="0"/>
                </a:lnTo>
                <a:lnTo>
                  <a:pt x="11301258" y="5466984"/>
                </a:lnTo>
                <a:lnTo>
                  <a:pt x="0" y="5466984"/>
                </a:lnTo>
                <a:lnTo>
                  <a:pt x="0" y="0"/>
                </a:lnTo>
                <a:close/>
              </a:path>
            </a:pathLst>
          </a:custGeom>
          <a:blipFill>
            <a:blip r:embed="rId8"/>
            <a:stretch>
              <a:fillRect l="0" t="0" r="0" b="0"/>
            </a:stretch>
          </a:blipFill>
        </p:spPr>
      </p:sp>
      <p:sp>
        <p:nvSpPr>
          <p:cNvPr name="Freeform 11" id="11"/>
          <p:cNvSpPr/>
          <p:nvPr/>
        </p:nvSpPr>
        <p:spPr>
          <a:xfrm flipH="false" flipV="false" rot="0">
            <a:off x="7794842" y="7959480"/>
            <a:ext cx="2698315" cy="2327520"/>
          </a:xfrm>
          <a:custGeom>
            <a:avLst/>
            <a:gdLst/>
            <a:ahLst/>
            <a:cxnLst/>
            <a:rect r="r" b="b" t="t" l="l"/>
            <a:pathLst>
              <a:path h="2327520" w="2698315">
                <a:moveTo>
                  <a:pt x="0" y="0"/>
                </a:moveTo>
                <a:lnTo>
                  <a:pt x="2698316" y="0"/>
                </a:lnTo>
                <a:lnTo>
                  <a:pt x="2698316" y="2327520"/>
                </a:lnTo>
                <a:lnTo>
                  <a:pt x="0" y="232752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1113184" y="453927"/>
            <a:ext cx="2020214" cy="1685960"/>
          </a:xfrm>
          <a:custGeom>
            <a:avLst/>
            <a:gdLst/>
            <a:ahLst/>
            <a:cxnLst/>
            <a:rect r="r" b="b" t="t" l="l"/>
            <a:pathLst>
              <a:path h="1685960" w="2020214">
                <a:moveTo>
                  <a:pt x="0" y="0"/>
                </a:moveTo>
                <a:lnTo>
                  <a:pt x="2020213" y="0"/>
                </a:lnTo>
                <a:lnTo>
                  <a:pt x="2020213" y="1685961"/>
                </a:lnTo>
                <a:lnTo>
                  <a:pt x="0" y="168596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7743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7519" y="5716921"/>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812533">
            <a:off x="13249751" y="-1895018"/>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343005">
            <a:off x="254274" y="-1913133"/>
            <a:ext cx="4175535" cy="4114800"/>
          </a:xfrm>
          <a:custGeom>
            <a:avLst/>
            <a:gdLst/>
            <a:ahLst/>
            <a:cxnLst/>
            <a:rect r="r" b="b" t="t" l="l"/>
            <a:pathLst>
              <a:path h="4114800" w="4175535">
                <a:moveTo>
                  <a:pt x="0" y="0"/>
                </a:moveTo>
                <a:lnTo>
                  <a:pt x="4175535" y="0"/>
                </a:lnTo>
                <a:lnTo>
                  <a:pt x="417553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3601700" y="8234265"/>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5400000">
            <a:off x="-3657600" y="-111556"/>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3037974">
            <a:off x="-3657600" y="6925480"/>
            <a:ext cx="7315200" cy="3194912"/>
          </a:xfrm>
          <a:custGeom>
            <a:avLst/>
            <a:gdLst/>
            <a:ahLst/>
            <a:cxnLst/>
            <a:rect r="r" b="b" t="t" l="l"/>
            <a:pathLst>
              <a:path h="3194912" w="7315200">
                <a:moveTo>
                  <a:pt x="7315200" y="0"/>
                </a:moveTo>
                <a:lnTo>
                  <a:pt x="0" y="0"/>
                </a:lnTo>
                <a:lnTo>
                  <a:pt x="0" y="3194912"/>
                </a:lnTo>
                <a:lnTo>
                  <a:pt x="7315200" y="3194912"/>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906271">
            <a:off x="13565944" y="-1240932"/>
            <a:ext cx="7315200" cy="3194912"/>
          </a:xfrm>
          <a:custGeom>
            <a:avLst/>
            <a:gdLst/>
            <a:ahLst/>
            <a:cxnLst/>
            <a:rect r="r" b="b" t="t" l="l"/>
            <a:pathLst>
              <a:path h="3194912" w="7315200">
                <a:moveTo>
                  <a:pt x="7315200" y="3194912"/>
                </a:moveTo>
                <a:lnTo>
                  <a:pt x="0" y="3194912"/>
                </a:lnTo>
                <a:lnTo>
                  <a:pt x="0" y="0"/>
                </a:lnTo>
                <a:lnTo>
                  <a:pt x="7315200" y="0"/>
                </a:lnTo>
                <a:lnTo>
                  <a:pt x="7315200" y="319491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AD7D5C"/>
                </a:solidFill>
                <a:latin typeface="Opun Mai SemiCondensed Bold"/>
                <a:ea typeface="Opun Mai SemiCondensed Bold"/>
                <a:cs typeface="Opun Mai SemiCondensed Bold"/>
                <a:sym typeface="Opun Mai SemiCondens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DAGlat1tLy8</dc:identifier>
  <dcterms:modified xsi:type="dcterms:W3CDTF">2011-08-01T06:04:30Z</dcterms:modified>
  <cp:revision>1</cp:revision>
  <dc:title>Brown Orange Abstract Modern Presentation</dc:title>
</cp:coreProperties>
</file>